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25"/>
  </p:sldIdLst>
  <p:sldSz cy="8229600" cx="14630400"/>
  <p:notesSz cx="8229600" cy="14630400"/>
  <p:embeddedFontLst>
    <p:embeddedFont>
      <p:font typeface="Funnel Sans"/>
      <p:regular r:id="rId9"/>
      <p:bold r:id="rId10"/>
      <p:italic r:id="rId11"/>
      <p:boldItalic r:id="rId12"/>
    </p:embeddedFont>
    <p:embeddedFont>
      <p:font typeface="Funnel Sans Medium"/>
      <p:regular r:id="rId13"/>
      <p:bold r:id="rId14"/>
      <p:italic r:id="rId15"/>
      <p:boldItalic r:id="rId16"/>
    </p:embeddedFont>
    <p:embeddedFont>
      <p:font typeface="Urbanist"/>
      <p:regular r:id="rId17"/>
      <p:bold r:id="rId18"/>
      <p:italic r:id="rId19"/>
      <p:boldItalic r:id="rId20"/>
    </p:embeddedFont>
    <p:embeddedFont>
      <p:font typeface="Funnel Sans ExtraBold"/>
      <p:bold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font" Target="fonts/FunnelSans-italic.fntdata"/><Relationship Id="rId22" Type="http://schemas.openxmlformats.org/officeDocument/2006/relationships/font" Target="fonts/FunnelSansExtraBold-boldItalic.fntdata"/><Relationship Id="rId10" Type="http://schemas.openxmlformats.org/officeDocument/2006/relationships/font" Target="fonts/FunnelSans-bold.fntdata"/><Relationship Id="rId21" Type="http://schemas.openxmlformats.org/officeDocument/2006/relationships/font" Target="fonts/FunnelSansExtraBold-bold.fntdata"/><Relationship Id="rId13" Type="http://schemas.openxmlformats.org/officeDocument/2006/relationships/font" Target="fonts/FunnelSansMedium-regular.fntdata"/><Relationship Id="rId24" Type="http://schemas.openxmlformats.org/officeDocument/2006/relationships/font" Target="fonts/SpaceGrotesk-bold.fntdata"/><Relationship Id="rId12" Type="http://schemas.openxmlformats.org/officeDocument/2006/relationships/font" Target="fonts/FunnelSans-boldItalic.fntdata"/><Relationship Id="rId23" Type="http://schemas.openxmlformats.org/officeDocument/2006/relationships/font" Target="fonts/SpaceGrotes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font" Target="fonts/FunnelSans-regular.fntdata"/><Relationship Id="rId15" Type="http://schemas.openxmlformats.org/officeDocument/2006/relationships/font" Target="fonts/FunnelSansMedium-italic.fntdata"/><Relationship Id="rId14" Type="http://schemas.openxmlformats.org/officeDocument/2006/relationships/font" Target="fonts/FunnelSansMedium-bold.fntdata"/><Relationship Id="rId17" Type="http://schemas.openxmlformats.org/officeDocument/2006/relationships/font" Target="fonts/Urbanist-regular.fntdata"/><Relationship Id="rId16" Type="http://schemas.openxmlformats.org/officeDocument/2006/relationships/font" Target="fonts/FunnelSansMedium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5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0a73dc626_0_598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0a73dc626_0_598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cf4cdf41c_15_0:notes"/>
          <p:cNvSpPr/>
          <p:nvPr>
            <p:ph idx="2" type="sldImg"/>
          </p:nvPr>
        </p:nvSpPr>
        <p:spPr>
          <a:xfrm>
            <a:off x="0" y="0"/>
            <a:ext cx="4800000" cy="48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dcf4cdf41c_15_0:notes"/>
          <p:cNvSpPr txBox="1"/>
          <p:nvPr>
            <p:ph idx="1" type="body"/>
          </p:nvPr>
        </p:nvSpPr>
        <p:spPr>
          <a:xfrm>
            <a:off x="0" y="0"/>
            <a:ext cx="48000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73" name="Google Shape;173;g3dcf4cdf41c_15_0:notes"/>
          <p:cNvSpPr txBox="1"/>
          <p:nvPr>
            <p:ph idx="12" type="sldNum"/>
          </p:nvPr>
        </p:nvSpPr>
        <p:spPr>
          <a:xfrm>
            <a:off x="0" y="0"/>
            <a:ext cx="48000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0a73dc626_0_1668:notes"/>
          <p:cNvSpPr/>
          <p:nvPr>
            <p:ph idx="2" type="sldImg"/>
          </p:nvPr>
        </p:nvSpPr>
        <p:spPr>
          <a:xfrm>
            <a:off x="0" y="0"/>
            <a:ext cx="4800000" cy="48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d0a73dc626_0_1668:notes"/>
          <p:cNvSpPr txBox="1"/>
          <p:nvPr>
            <p:ph idx="1" type="body"/>
          </p:nvPr>
        </p:nvSpPr>
        <p:spPr>
          <a:xfrm>
            <a:off x="0" y="0"/>
            <a:ext cx="48000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6" name="Google Shape;216;g3d0a73dc626_0_1668:notes"/>
          <p:cNvSpPr txBox="1"/>
          <p:nvPr>
            <p:ph idx="12" type="sldNum"/>
          </p:nvPr>
        </p:nvSpPr>
        <p:spPr>
          <a:xfrm>
            <a:off x="0" y="0"/>
            <a:ext cx="48000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0a73dc626_0_1668:notes"/>
          <p:cNvSpPr/>
          <p:nvPr>
            <p:ph idx="2" type="sldImg"/>
          </p:nvPr>
        </p:nvSpPr>
        <p:spPr>
          <a:xfrm>
            <a:off x="0" y="0"/>
            <a:ext cx="4800000" cy="48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d0a73dc626_0_1668:notes"/>
          <p:cNvSpPr txBox="1"/>
          <p:nvPr>
            <p:ph idx="1" type="body"/>
          </p:nvPr>
        </p:nvSpPr>
        <p:spPr>
          <a:xfrm>
            <a:off x="0" y="0"/>
            <a:ext cx="48000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6" name="Google Shape;216;g3d0a73dc626_0_1668:notes"/>
          <p:cNvSpPr txBox="1"/>
          <p:nvPr>
            <p:ph idx="12" type="sldNum"/>
          </p:nvPr>
        </p:nvSpPr>
        <p:spPr>
          <a:xfrm>
            <a:off x="0" y="0"/>
            <a:ext cx="48000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097280" y="3408680"/>
            <a:ext cx="124359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194560" y="6217920"/>
            <a:ext cx="10241400" cy="28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731520" y="439421"/>
            <a:ext cx="13167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31520" y="2560320"/>
            <a:ext cx="13167300" cy="7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41275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1pPr>
            <a:lvl2pPr indent="-41275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/>
            </a:lvl2pPr>
            <a:lvl3pPr indent="-41275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3pPr>
            <a:lvl4pPr indent="-41275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/>
            </a:lvl4pPr>
            <a:lvl5pPr indent="-41275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/>
            </a:lvl5pPr>
            <a:lvl6pPr indent="-41275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indent="-41275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indent="-41275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indent="-41275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155701" y="7051040"/>
            <a:ext cx="124359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b="1" sz="6400" cap="none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155701" y="4650741"/>
            <a:ext cx="12435900" cy="24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 sz="2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31520" y="439421"/>
            <a:ext cx="13167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731520" y="2560320"/>
            <a:ext cx="6461700" cy="7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514350" lvl="0" marL="4572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Char char="•"/>
              <a:defRPr sz="4500"/>
            </a:lvl1pPr>
            <a:lvl2pPr indent="-4699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Char char="–"/>
              <a:defRPr sz="3800"/>
            </a:lvl2pPr>
            <a:lvl3pPr indent="-4318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7437120" y="2560320"/>
            <a:ext cx="6461700" cy="7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514350" lvl="0" marL="4572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Char char="•"/>
              <a:defRPr sz="4500"/>
            </a:lvl1pPr>
            <a:lvl2pPr indent="-4699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Char char="–"/>
              <a:defRPr sz="3800"/>
            </a:lvl2pPr>
            <a:lvl3pPr indent="-4318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31520" y="439421"/>
            <a:ext cx="13167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731520" y="2456181"/>
            <a:ext cx="6464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3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731520" y="3479800"/>
            <a:ext cx="6464100" cy="6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4699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1pPr>
            <a:lvl2pPr indent="-4318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1275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3pPr>
            <a:lvl4pPr indent="-39370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4pPr>
            <a:lvl5pPr indent="-39370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/>
            </a:lvl5pPr>
            <a:lvl6pPr indent="-3937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indent="-3937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indent="-3937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indent="-3937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7432040" y="2456181"/>
            <a:ext cx="6467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3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sz="2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7432040" y="3479800"/>
            <a:ext cx="6467100" cy="6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4699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1pPr>
            <a:lvl2pPr indent="-4318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1275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3pPr>
            <a:lvl4pPr indent="-39370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/>
            </a:lvl4pPr>
            <a:lvl5pPr indent="-39370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/>
            </a:lvl5pPr>
            <a:lvl6pPr indent="-3937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6pPr>
            <a:lvl7pPr indent="-3937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7pPr>
            <a:lvl8pPr indent="-3937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8pPr>
            <a:lvl9pPr indent="-3937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731520" y="439421"/>
            <a:ext cx="13167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731520" y="436880"/>
            <a:ext cx="48135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720080" y="436880"/>
            <a:ext cx="8178600" cy="9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55245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100"/>
              <a:buChar char="•"/>
              <a:defRPr sz="5100"/>
            </a:lvl1pPr>
            <a:lvl2pPr indent="-514350" lvl="1" marL="9144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Char char="–"/>
              <a:defRPr sz="4500"/>
            </a:lvl2pPr>
            <a:lvl3pPr indent="-469900" lvl="2" marL="1371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3pPr>
            <a:lvl4pPr indent="-4318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731520" y="2296160"/>
            <a:ext cx="48135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867661" y="7680960"/>
            <a:ext cx="87783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867661" y="980440"/>
            <a:ext cx="8778300" cy="6583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867661" y="8587741"/>
            <a:ext cx="8778300" cy="1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731520" y="439421"/>
            <a:ext cx="13167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694380" y="-402480"/>
            <a:ext cx="7241700" cy="13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41275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1pPr>
            <a:lvl2pPr indent="-41275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/>
            </a:lvl2pPr>
            <a:lvl3pPr indent="-41275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3pPr>
            <a:lvl4pPr indent="-41275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/>
            </a:lvl4pPr>
            <a:lvl5pPr indent="-41275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/>
            </a:lvl5pPr>
            <a:lvl6pPr indent="-41275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indent="-41275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indent="-41275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indent="-41275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571730" y="3474671"/>
            <a:ext cx="93624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866100" y="304721"/>
            <a:ext cx="9362400" cy="9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41275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1pPr>
            <a:lvl2pPr indent="-41275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/>
            </a:lvl2pPr>
            <a:lvl3pPr indent="-41275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3pPr>
            <a:lvl4pPr indent="-41275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/>
            </a:lvl4pPr>
            <a:lvl5pPr indent="-41275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/>
            </a:lvl5pPr>
            <a:lvl6pPr indent="-41275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6pPr>
            <a:lvl7pPr indent="-41275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7pPr>
            <a:lvl8pPr indent="-41275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8pPr>
            <a:lvl9pPr indent="-41275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-1">
  <p:cSld name="CUSTOM_6_1">
    <p:bg>
      <p:bgPr>
        <a:solidFill>
          <a:srgbClr val="00140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14240" y="7722840"/>
            <a:ext cx="13600200" cy="504600"/>
          </a:xfrm>
          <a:prstGeom prst="rect">
            <a:avLst/>
          </a:prstGeom>
          <a:solidFill>
            <a:srgbClr val="00140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pic>
        <p:nvPicPr>
          <p:cNvPr id="86" name="Google Shape;86;p13" title="60 4 copy.png"/>
          <p:cNvPicPr preferRelativeResize="0"/>
          <p:nvPr/>
        </p:nvPicPr>
        <p:blipFill rotWithShape="1">
          <a:blip r:embed="rId2">
            <a:alphaModFix/>
          </a:blip>
          <a:srcRect b="13821" l="18195" r="7753" t="44549"/>
          <a:stretch/>
        </p:blipFill>
        <p:spPr>
          <a:xfrm>
            <a:off x="-80" y="0"/>
            <a:ext cx="14636636" cy="822815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518800" y="1572084"/>
            <a:ext cx="7881000" cy="3379800"/>
          </a:xfrm>
          <a:prstGeom prst="roundRect">
            <a:avLst>
              <a:gd fmla="val 0" name="adj"/>
            </a:avLst>
          </a:prstGeom>
          <a:solidFill>
            <a:srgbClr val="000000"/>
          </a:solidFill>
          <a:ln cap="flat" cmpd="sng" w="9525">
            <a:solidFill>
              <a:srgbClr val="2732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19897" l="-11819" r="74059" t="65740"/>
          <a:stretch/>
        </p:blipFill>
        <p:spPr>
          <a:xfrm>
            <a:off x="518800" y="6835280"/>
            <a:ext cx="2293121" cy="8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title"/>
          </p:nvPr>
        </p:nvSpPr>
        <p:spPr>
          <a:xfrm>
            <a:off x="624280" y="1801520"/>
            <a:ext cx="7305600" cy="2903100"/>
          </a:xfrm>
          <a:prstGeom prst="rect">
            <a:avLst/>
          </a:prstGeom>
        </p:spPr>
        <p:txBody>
          <a:bodyPr anchorCtr="0" anchor="t" bIns="73125" lIns="146275" spcFirstLastPara="1" rIns="146275" wrap="square" tIns="73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Font typeface="Space Grotesk"/>
              <a:buNone/>
              <a:defRPr b="1" sz="6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cxnSp>
        <p:nvCxnSpPr>
          <p:cNvPr id="90" name="Google Shape;90;p13"/>
          <p:cNvCxnSpPr/>
          <p:nvPr/>
        </p:nvCxnSpPr>
        <p:spPr>
          <a:xfrm>
            <a:off x="518800" y="0"/>
            <a:ext cx="0" cy="822810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3"/>
          <p:cNvCxnSpPr/>
          <p:nvPr/>
        </p:nvCxnSpPr>
        <p:spPr>
          <a:xfrm rot="10800000">
            <a:off x="-20" y="7718472"/>
            <a:ext cx="14636700" cy="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3"/>
          <p:cNvSpPr/>
          <p:nvPr/>
        </p:nvSpPr>
        <p:spPr>
          <a:xfrm>
            <a:off x="467200" y="7666720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cxnSp>
        <p:nvCxnSpPr>
          <p:cNvPr id="93" name="Google Shape;93;p13"/>
          <p:cNvCxnSpPr/>
          <p:nvPr/>
        </p:nvCxnSpPr>
        <p:spPr>
          <a:xfrm>
            <a:off x="14114560" y="0"/>
            <a:ext cx="0" cy="822810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3"/>
          <p:cNvSpPr/>
          <p:nvPr/>
        </p:nvSpPr>
        <p:spPr>
          <a:xfrm>
            <a:off x="14062978" y="7666720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cxnSp>
        <p:nvCxnSpPr>
          <p:cNvPr id="95" name="Google Shape;95;p13"/>
          <p:cNvCxnSpPr/>
          <p:nvPr/>
        </p:nvCxnSpPr>
        <p:spPr>
          <a:xfrm>
            <a:off x="8399920" y="468920"/>
            <a:ext cx="0" cy="725040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3"/>
          <p:cNvSpPr/>
          <p:nvPr/>
        </p:nvSpPr>
        <p:spPr>
          <a:xfrm>
            <a:off x="518800" y="518964"/>
            <a:ext cx="2508600" cy="1053000"/>
          </a:xfrm>
          <a:prstGeom prst="roundRect">
            <a:avLst>
              <a:gd fmla="val 0" name="adj"/>
            </a:avLst>
          </a:prstGeom>
          <a:solidFill>
            <a:srgbClr val="000000"/>
          </a:solidFill>
          <a:ln cap="flat" cmpd="sng" w="9525">
            <a:solidFill>
              <a:srgbClr val="2732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467200" y="1523789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98" name="Google Shape;98;p13"/>
          <p:cNvSpPr/>
          <p:nvPr/>
        </p:nvSpPr>
        <p:spPr>
          <a:xfrm>
            <a:off x="2976280" y="1523789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cxnSp>
        <p:nvCxnSpPr>
          <p:cNvPr id="99" name="Google Shape;99;p13"/>
          <p:cNvCxnSpPr/>
          <p:nvPr/>
        </p:nvCxnSpPr>
        <p:spPr>
          <a:xfrm rot="10800000">
            <a:off x="40" y="6825560"/>
            <a:ext cx="8409000" cy="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3"/>
          <p:cNvSpPr/>
          <p:nvPr/>
        </p:nvSpPr>
        <p:spPr>
          <a:xfrm>
            <a:off x="467200" y="6773960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01" name="Google Shape;101;p13"/>
          <p:cNvSpPr/>
          <p:nvPr/>
        </p:nvSpPr>
        <p:spPr>
          <a:xfrm>
            <a:off x="8348320" y="7662211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02" name="Google Shape;102;p13"/>
          <p:cNvSpPr/>
          <p:nvPr/>
        </p:nvSpPr>
        <p:spPr>
          <a:xfrm>
            <a:off x="8348320" y="4899215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cxnSp>
        <p:nvCxnSpPr>
          <p:cNvPr id="103" name="Google Shape;103;p13"/>
          <p:cNvCxnSpPr/>
          <p:nvPr/>
        </p:nvCxnSpPr>
        <p:spPr>
          <a:xfrm>
            <a:off x="2811920" y="6835920"/>
            <a:ext cx="0" cy="88320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3"/>
          <p:cNvSpPr/>
          <p:nvPr/>
        </p:nvSpPr>
        <p:spPr>
          <a:xfrm>
            <a:off x="2760320" y="7666720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05" name="Google Shape;105;p13"/>
          <p:cNvSpPr txBox="1"/>
          <p:nvPr/>
        </p:nvSpPr>
        <p:spPr>
          <a:xfrm>
            <a:off x="12694606" y="7786640"/>
            <a:ext cx="140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A8F89"/>
                </a:solidFill>
                <a:latin typeface="Funnel Sans Medium"/>
                <a:ea typeface="Funnel Sans Medium"/>
                <a:cs typeface="Funnel Sans Medium"/>
                <a:sym typeface="Funnel Sans Medium"/>
              </a:rPr>
              <a:t>©  Kong Inc.</a:t>
            </a:r>
            <a:endParaRPr sz="1100">
              <a:solidFill>
                <a:schemeClr val="lt1"/>
              </a:solidFill>
              <a:latin typeface="Funnel Sans Medium"/>
              <a:ea typeface="Funnel Sans Medium"/>
              <a:cs typeface="Funnel Sans Medium"/>
              <a:sym typeface="Funnel Sans Medium"/>
            </a:endParaRPr>
          </a:p>
        </p:txBody>
      </p:sp>
      <p:cxnSp>
        <p:nvCxnSpPr>
          <p:cNvPr id="106" name="Google Shape;106;p13"/>
          <p:cNvCxnSpPr/>
          <p:nvPr/>
        </p:nvCxnSpPr>
        <p:spPr>
          <a:xfrm>
            <a:off x="12694600" y="7724040"/>
            <a:ext cx="0" cy="50460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3"/>
          <p:cNvSpPr/>
          <p:nvPr/>
        </p:nvSpPr>
        <p:spPr>
          <a:xfrm>
            <a:off x="8348320" y="1520242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grpSp>
        <p:nvGrpSpPr>
          <p:cNvPr id="108" name="Google Shape;108;p13"/>
          <p:cNvGrpSpPr/>
          <p:nvPr/>
        </p:nvGrpSpPr>
        <p:grpSpPr>
          <a:xfrm>
            <a:off x="40" y="465520"/>
            <a:ext cx="14636640" cy="103200"/>
            <a:chOff x="25" y="510925"/>
            <a:chExt cx="9147900" cy="64500"/>
          </a:xfrm>
        </p:grpSpPr>
        <p:cxnSp>
          <p:nvCxnSpPr>
            <p:cNvPr id="109" name="Google Shape;109;p13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cap="flat" cmpd="sng" w="15250">
              <a:solidFill>
                <a:srgbClr val="27321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" name="Google Shape;110;p13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fmla="val 42481" name="adj"/>
              </a:avLst>
            </a:prstGeom>
            <a:solidFill>
              <a:srgbClr val="CCFF00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fmla="val 42481" name="adj"/>
              </a:avLst>
            </a:prstGeom>
            <a:solidFill>
              <a:srgbClr val="CCFF00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</p:grpSp>
      <p:sp>
        <p:nvSpPr>
          <p:cNvPr id="112" name="Google Shape;112;p13"/>
          <p:cNvSpPr/>
          <p:nvPr/>
        </p:nvSpPr>
        <p:spPr>
          <a:xfrm>
            <a:off x="8348320" y="467869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3" name="Google Shape;113;p13"/>
          <p:cNvSpPr/>
          <p:nvPr/>
        </p:nvSpPr>
        <p:spPr>
          <a:xfrm>
            <a:off x="2976280" y="467869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4" name="Google Shape;114;p13"/>
          <p:cNvSpPr txBox="1"/>
          <p:nvPr/>
        </p:nvSpPr>
        <p:spPr>
          <a:xfrm>
            <a:off x="8348320" y="7780400"/>
            <a:ext cx="43464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CFF00"/>
                </a:solidFill>
                <a:latin typeface="Funnel Sans Medium"/>
                <a:ea typeface="Funnel Sans Medium"/>
                <a:cs typeface="Funnel Sans Medium"/>
                <a:sym typeface="Funnel Sans Medium"/>
              </a:rPr>
              <a:t>CONFIDENTIAL</a:t>
            </a:r>
            <a:r>
              <a:rPr lang="en-US" sz="1300">
                <a:solidFill>
                  <a:srgbClr val="8A8F89"/>
                </a:solidFill>
                <a:latin typeface="Funnel Sans Medium"/>
                <a:ea typeface="Funnel Sans Medium"/>
                <a:cs typeface="Funnel Sans Medium"/>
                <a:sym typeface="Funnel Sans Medium"/>
              </a:rPr>
              <a:t> </a:t>
            </a:r>
            <a:r>
              <a:rPr lang="en-US" sz="1300">
                <a:solidFill>
                  <a:srgbClr val="D9D9D9"/>
                </a:solidFill>
                <a:latin typeface="Funnel Sans Medium"/>
                <a:ea typeface="Funnel Sans Medium"/>
                <a:cs typeface="Funnel Sans Medium"/>
                <a:sym typeface="Funnel Sans Medium"/>
              </a:rPr>
              <a:t>| NOT TO BE SHARED EXTERNALLY</a:t>
            </a:r>
            <a:endParaRPr sz="1300">
              <a:solidFill>
                <a:srgbClr val="D9D9D9"/>
              </a:solidFill>
              <a:latin typeface="Funnel Sans Medium"/>
              <a:ea typeface="Funnel Sans Medium"/>
              <a:cs typeface="Funnel Sans Medium"/>
              <a:sym typeface="Funnel Sans Medium"/>
            </a:endParaRPr>
          </a:p>
        </p:txBody>
      </p:sp>
      <p:pic>
        <p:nvPicPr>
          <p:cNvPr id="115" name="Google Shape;11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800" y="730438"/>
            <a:ext cx="1982481" cy="635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6_2_2">
    <p:bg>
      <p:bgPr>
        <a:solidFill>
          <a:srgbClr val="001408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14"/>
          <p:cNvCxnSpPr/>
          <p:nvPr/>
        </p:nvCxnSpPr>
        <p:spPr>
          <a:xfrm>
            <a:off x="518800" y="0"/>
            <a:ext cx="0" cy="822810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4"/>
          <p:cNvCxnSpPr/>
          <p:nvPr/>
        </p:nvCxnSpPr>
        <p:spPr>
          <a:xfrm rot="10800000">
            <a:off x="-20" y="7718472"/>
            <a:ext cx="14636700" cy="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9" name="Google Shape;11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0538" y="7811476"/>
            <a:ext cx="327440" cy="2922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443372" y="7690548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cxnSp>
        <p:nvCxnSpPr>
          <p:cNvPr id="121" name="Google Shape;121;p14"/>
          <p:cNvCxnSpPr/>
          <p:nvPr/>
        </p:nvCxnSpPr>
        <p:spPr>
          <a:xfrm>
            <a:off x="14114560" y="0"/>
            <a:ext cx="0" cy="822810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4"/>
          <p:cNvSpPr/>
          <p:nvPr/>
        </p:nvSpPr>
        <p:spPr>
          <a:xfrm>
            <a:off x="14062978" y="7666720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cxnSp>
        <p:nvCxnSpPr>
          <p:cNvPr id="123" name="Google Shape;123;p14"/>
          <p:cNvCxnSpPr/>
          <p:nvPr/>
        </p:nvCxnSpPr>
        <p:spPr>
          <a:xfrm>
            <a:off x="12694600" y="7724040"/>
            <a:ext cx="0" cy="504600"/>
          </a:xfrm>
          <a:prstGeom prst="straightConnector1">
            <a:avLst/>
          </a:prstGeom>
          <a:noFill/>
          <a:ln cap="flat" cmpd="sng" w="15250">
            <a:solidFill>
              <a:srgbClr val="27321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4" name="Google Shape;124;p14"/>
          <p:cNvGrpSpPr/>
          <p:nvPr/>
        </p:nvGrpSpPr>
        <p:grpSpPr>
          <a:xfrm>
            <a:off x="40" y="465520"/>
            <a:ext cx="14636640" cy="103200"/>
            <a:chOff x="25" y="510925"/>
            <a:chExt cx="9147900" cy="64500"/>
          </a:xfrm>
        </p:grpSpPr>
        <p:cxnSp>
          <p:nvCxnSpPr>
            <p:cNvPr id="125" name="Google Shape;125;p14"/>
            <p:cNvCxnSpPr/>
            <p:nvPr/>
          </p:nvCxnSpPr>
          <p:spPr>
            <a:xfrm rot="10800000">
              <a:off x="25" y="543175"/>
              <a:ext cx="9147900" cy="0"/>
            </a:xfrm>
            <a:prstGeom prst="straightConnector1">
              <a:avLst/>
            </a:prstGeom>
            <a:noFill/>
            <a:ln cap="flat" cmpd="sng" w="15250">
              <a:solidFill>
                <a:srgbClr val="27321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" name="Google Shape;126;p14"/>
            <p:cNvSpPr/>
            <p:nvPr/>
          </p:nvSpPr>
          <p:spPr>
            <a:xfrm>
              <a:off x="292000" y="510925"/>
              <a:ext cx="64500" cy="64500"/>
            </a:xfrm>
            <a:prstGeom prst="plus">
              <a:avLst>
                <a:gd fmla="val 42481" name="adj"/>
              </a:avLst>
            </a:prstGeom>
            <a:solidFill>
              <a:srgbClr val="CCFF00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8789361" y="510925"/>
              <a:ext cx="64500" cy="64500"/>
            </a:xfrm>
            <a:prstGeom prst="plus">
              <a:avLst>
                <a:gd fmla="val 42481" name="adj"/>
              </a:avLst>
            </a:prstGeom>
            <a:solidFill>
              <a:srgbClr val="CCFF00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</p:grp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12694600" y="7733884"/>
            <a:ext cx="1386600" cy="504600"/>
          </a:xfrm>
          <a:prstGeom prst="rect">
            <a:avLst/>
          </a:prstGeom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AAB4BB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900"/>
          </a:p>
        </p:txBody>
      </p:sp>
      <p:grpSp>
        <p:nvGrpSpPr>
          <p:cNvPr id="129" name="Google Shape;129;p14"/>
          <p:cNvGrpSpPr/>
          <p:nvPr/>
        </p:nvGrpSpPr>
        <p:grpSpPr>
          <a:xfrm rot="-5400000">
            <a:off x="13416692" y="962503"/>
            <a:ext cx="327430" cy="327430"/>
            <a:chOff x="259788" y="1923155"/>
            <a:chExt cx="409800" cy="409800"/>
          </a:xfrm>
        </p:grpSpPr>
        <p:sp>
          <p:nvSpPr>
            <p:cNvPr id="130" name="Google Shape;130;p1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rgbClr val="8A8F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1" name="Google Shape;131;p1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32" name="Google Shape;132;p1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A8F8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A8F8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4" name="Google Shape;134;p14"/>
          <p:cNvGrpSpPr/>
          <p:nvPr/>
        </p:nvGrpSpPr>
        <p:grpSpPr>
          <a:xfrm rot="-5400000">
            <a:off x="13416692" y="2160549"/>
            <a:ext cx="327430" cy="327430"/>
            <a:chOff x="259788" y="1923155"/>
            <a:chExt cx="409800" cy="409800"/>
          </a:xfrm>
        </p:grpSpPr>
        <p:sp>
          <p:nvSpPr>
            <p:cNvPr id="135" name="Google Shape;135;p1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rgbClr val="8A8F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6" name="Google Shape;136;p1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37" name="Google Shape;137;p1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A8F8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A8F8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9" name="Google Shape;139;p14"/>
          <p:cNvGrpSpPr/>
          <p:nvPr/>
        </p:nvGrpSpPr>
        <p:grpSpPr>
          <a:xfrm rot="-5400000">
            <a:off x="13416692" y="3358595"/>
            <a:ext cx="327430" cy="327430"/>
            <a:chOff x="259788" y="1923155"/>
            <a:chExt cx="409800" cy="409800"/>
          </a:xfrm>
        </p:grpSpPr>
        <p:sp>
          <p:nvSpPr>
            <p:cNvPr id="140" name="Google Shape;140;p1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rgbClr val="8A8F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1" name="Google Shape;141;p1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42" name="Google Shape;142;p1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A8F8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1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A8F8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4" name="Google Shape;144;p14"/>
          <p:cNvGrpSpPr/>
          <p:nvPr/>
        </p:nvGrpSpPr>
        <p:grpSpPr>
          <a:xfrm rot="-5400000">
            <a:off x="13416692" y="4556641"/>
            <a:ext cx="327430" cy="327430"/>
            <a:chOff x="259788" y="1923155"/>
            <a:chExt cx="409800" cy="409800"/>
          </a:xfrm>
        </p:grpSpPr>
        <p:sp>
          <p:nvSpPr>
            <p:cNvPr id="145" name="Google Shape;145;p1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rgbClr val="8A8F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6" name="Google Shape;146;p1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47" name="Google Shape;147;p1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A8F8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1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A8F8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pic>
        <p:nvPicPr>
          <p:cNvPr id="149" name="Google Shape;149;p14" title="CONNECTOR-SLIDE-10.png"/>
          <p:cNvPicPr preferRelativeResize="0"/>
          <p:nvPr/>
        </p:nvPicPr>
        <p:blipFill rotWithShape="1">
          <a:blip r:embed="rId3">
            <a:alphaModFix/>
          </a:blip>
          <a:srcRect b="13291" l="1474" r="55674" t="53414"/>
          <a:stretch/>
        </p:blipFill>
        <p:spPr>
          <a:xfrm flipH="1">
            <a:off x="2" y="0"/>
            <a:ext cx="10591918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/>
          <p:nvPr/>
        </p:nvSpPr>
        <p:spPr>
          <a:xfrm>
            <a:off x="6995760" y="527160"/>
            <a:ext cx="7117500" cy="1198200"/>
          </a:xfrm>
          <a:prstGeom prst="roundRect">
            <a:avLst>
              <a:gd fmla="val 0" name="adj"/>
            </a:avLst>
          </a:prstGeom>
          <a:solidFill>
            <a:srgbClr val="000000"/>
          </a:solidFill>
          <a:ln cap="flat" cmpd="sng" w="9525">
            <a:solidFill>
              <a:srgbClr val="2732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6995760" y="1725204"/>
            <a:ext cx="7117500" cy="1198200"/>
          </a:xfrm>
          <a:prstGeom prst="roundRect">
            <a:avLst>
              <a:gd fmla="val 0" name="adj"/>
            </a:avLst>
          </a:prstGeom>
          <a:solidFill>
            <a:srgbClr val="000000"/>
          </a:solidFill>
          <a:ln cap="flat" cmpd="sng" w="9525">
            <a:solidFill>
              <a:srgbClr val="2732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6995760" y="2923248"/>
            <a:ext cx="7117500" cy="1198200"/>
          </a:xfrm>
          <a:prstGeom prst="roundRect">
            <a:avLst>
              <a:gd fmla="val 0" name="adj"/>
            </a:avLst>
          </a:prstGeom>
          <a:solidFill>
            <a:srgbClr val="000000"/>
          </a:solidFill>
          <a:ln cap="flat" cmpd="sng" w="9525">
            <a:solidFill>
              <a:srgbClr val="2732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6995760" y="4121291"/>
            <a:ext cx="7117500" cy="1198200"/>
          </a:xfrm>
          <a:prstGeom prst="roundRect">
            <a:avLst>
              <a:gd fmla="val 0" name="adj"/>
            </a:avLst>
          </a:prstGeom>
          <a:solidFill>
            <a:srgbClr val="000000"/>
          </a:solidFill>
          <a:ln cap="flat" cmpd="sng" w="9525">
            <a:solidFill>
              <a:srgbClr val="2732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6995760" y="5319375"/>
            <a:ext cx="7117500" cy="2396100"/>
          </a:xfrm>
          <a:prstGeom prst="roundRect">
            <a:avLst>
              <a:gd fmla="val 0" name="adj"/>
            </a:avLst>
          </a:prstGeom>
          <a:solidFill>
            <a:srgbClr val="000000"/>
          </a:solidFill>
          <a:ln cap="flat" cmpd="sng" w="9525">
            <a:solidFill>
              <a:srgbClr val="2732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14062978" y="7666720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56" name="Google Shape;156;p14"/>
          <p:cNvSpPr/>
          <p:nvPr/>
        </p:nvSpPr>
        <p:spPr>
          <a:xfrm>
            <a:off x="467200" y="7666720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57" name="Google Shape;157;p14"/>
          <p:cNvSpPr/>
          <p:nvPr/>
        </p:nvSpPr>
        <p:spPr>
          <a:xfrm>
            <a:off x="14062978" y="467120"/>
            <a:ext cx="103200" cy="103200"/>
          </a:xfrm>
          <a:prstGeom prst="plus">
            <a:avLst>
              <a:gd fmla="val 42481" name="adj"/>
            </a:avLst>
          </a:prstGeom>
          <a:solidFill>
            <a:srgbClr val="CCFF00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731520" y="439421"/>
            <a:ext cx="13167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 b="0" i="0" sz="7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9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31520" y="2560320"/>
            <a:ext cx="13167300" cy="7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rmAutofit/>
          </a:bodyPr>
          <a:lstStyle>
            <a:lvl1pPr indent="-552450" lvl="0" marL="457200" marR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ial"/>
              <a:buChar char="•"/>
              <a:defRPr b="0" i="0" sz="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14350" lvl="1" marL="914400" marR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Char char="–"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69900" lvl="2" marL="1371600" marR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315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998720" y="10170160"/>
            <a:ext cx="4632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485120" y="10170160"/>
            <a:ext cx="3413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4.jpg"/><Relationship Id="rId9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572888" y="1746440"/>
            <a:ext cx="7908900" cy="1464900"/>
          </a:xfrm>
          <a:prstGeom prst="rect">
            <a:avLst/>
          </a:prstGeom>
        </p:spPr>
        <p:txBody>
          <a:bodyPr anchorCtr="0" anchor="t" bIns="73125" lIns="146275" spcFirstLastPara="1" rIns="146275" wrap="square" tIns="731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lt1"/>
                </a:solidFill>
                <a:latin typeface="Funnel Sans"/>
                <a:ea typeface="Funnel Sans"/>
                <a:cs typeface="Funnel Sans"/>
                <a:sym typeface="Funnel Sans"/>
              </a:rPr>
              <a:t>Customer Kong</a:t>
            </a:r>
            <a:r>
              <a:rPr lang="en-US" sz="4700">
                <a:solidFill>
                  <a:schemeClr val="lt1"/>
                </a:solidFill>
                <a:latin typeface="Funnel Sans"/>
                <a:ea typeface="Funnel Sans"/>
                <a:cs typeface="Funnel Sans"/>
                <a:sym typeface="Funnel Sans"/>
              </a:rPr>
              <a:t/>
            </a:r>
            <a:endParaRPr sz="4700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3600">
                <a:solidFill>
                  <a:schemeClr val="lt1"/>
                </a:solidFill>
                <a:latin typeface="Funnel Sans"/>
                <a:ea typeface="Funnel Sans"/>
                <a:cs typeface="Funnel Sans"/>
                <a:sym typeface="Funnel Sans"/>
              </a:rPr>
              <a:t>Success Plan</a:t>
            </a:r>
            <a:endParaRPr b="0" i="1" sz="3600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CCFF00"/>
                </a:solidFill>
                <a:latin typeface="Calibri"/>
                <a:ea typeface="Calibri"/>
                <a:cs typeface="Calibri"/>
                <a:sym typeface="Calibri"/>
              </a:rPr>
              <a:t>Month YYYY</a:t>
            </a:r>
            <a:endParaRPr sz="4200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76400" y="6913475"/>
            <a:ext cx="49194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unnel Sans"/>
                <a:ea typeface="Funnel Sans"/>
                <a:cs typeface="Funnel Sans"/>
                <a:sym typeface="Funnel Sans"/>
              </a:rPr>
              <a:t>&lt;CSM Name&gt; - Technical CSM</a:t>
            </a:r>
            <a:endParaRPr sz="2600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743621" y="5819040"/>
            <a:ext cx="72222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unnel Sans Medium"/>
                <a:ea typeface="Funnel Sans Medium"/>
                <a:cs typeface="Funnel Sans Medium"/>
                <a:sym typeface="Funnel Sans Medium"/>
              </a:rPr>
              <a:t>&lt;Customer-specific tagline&gt;</a:t>
            </a:r>
            <a:endParaRPr sz="2600">
              <a:solidFill>
                <a:schemeClr val="lt1"/>
              </a:solidFill>
              <a:latin typeface="Funnel Sans Medium"/>
              <a:ea typeface="Funnel Sans Medium"/>
              <a:cs typeface="Funnel Sans Medium"/>
              <a:sym typeface="Funnel Sans Medium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748" y="5357684"/>
            <a:ext cx="3706081" cy="48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4283084" y="6913475"/>
            <a:ext cx="49194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600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9319934" y="6913475"/>
            <a:ext cx="49194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600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8"/>
          <p:cNvGrpSpPr/>
          <p:nvPr/>
        </p:nvGrpSpPr>
        <p:grpSpPr>
          <a:xfrm>
            <a:off x="585225" y="5531825"/>
            <a:ext cx="13460100" cy="1961200"/>
            <a:chOff x="585225" y="5531825"/>
            <a:chExt cx="13460100" cy="1961200"/>
          </a:xfrm>
        </p:grpSpPr>
        <p:sp>
          <p:nvSpPr>
            <p:cNvPr id="176" name="Google Shape;176;p18"/>
            <p:cNvSpPr/>
            <p:nvPr/>
          </p:nvSpPr>
          <p:spPr>
            <a:xfrm flipH="1" rot="10800000">
              <a:off x="585225" y="5952225"/>
              <a:ext cx="13460100" cy="1540800"/>
            </a:xfrm>
            <a:prstGeom prst="triangle">
              <a:avLst>
                <a:gd fmla="val 50000" name="adj"/>
              </a:avLst>
            </a:prstGeom>
            <a:solidFill>
              <a:srgbClr val="0A1A0E">
                <a:alpha val="80000"/>
              </a:srgbClr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5664225" y="5531825"/>
              <a:ext cx="33021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100"/>
                <a:buFont typeface="Funnel Sans"/>
                <a:buNone/>
              </a:pPr>
              <a:r>
                <a:rPr lang="en-US" sz="2100">
                  <a:solidFill>
                    <a:srgbClr val="CCFF00"/>
                  </a:solidFill>
                  <a:latin typeface="Funnel Sans ExtraBold"/>
                  <a:ea typeface="Funnel Sans ExtraBold"/>
                  <a:cs typeface="Funnel Sans ExtraBold"/>
                  <a:sym typeface="Funnel Sans ExtraBold"/>
                </a:rPr>
                <a:t>BOTTOM-LINE TAKEAWAY</a:t>
              </a:r>
              <a:endParaRPr sz="2100">
                <a:solidFill>
                  <a:schemeClr val="dk1"/>
                </a:solidFill>
                <a:latin typeface="Funnel Sans ExtraBold"/>
                <a:ea typeface="Funnel Sans ExtraBold"/>
                <a:cs typeface="Funnel Sans ExtraBold"/>
                <a:sym typeface="Funnel Sans ExtraBold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4292625" y="6348975"/>
              <a:ext cx="6045300" cy="4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Funnel Sans"/>
                <a:buNone/>
              </a:pPr>
              <a:r>
                <a:rPr lang="en-US" sz="1700">
                  <a:solidFill>
                    <a:srgbClr val="FFFFFF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&lt;One-line summary of why these priorities matter to the customer.&gt;</a:t>
              </a:r>
              <a:endParaRPr sz="17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sp>
        <p:nvSpPr>
          <p:cNvPr id="179" name="Google Shape;179;p18"/>
          <p:cNvSpPr/>
          <p:nvPr/>
        </p:nvSpPr>
        <p:spPr>
          <a:xfrm>
            <a:off x="0" y="7754112"/>
            <a:ext cx="14630400" cy="475800"/>
          </a:xfrm>
          <a:prstGeom prst="rect">
            <a:avLst/>
          </a:prstGeom>
          <a:solidFill>
            <a:srgbClr val="000F06"/>
          </a:solidFill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>
            <a:off x="0" y="7754112"/>
            <a:ext cx="14630400" cy="0"/>
          </a:xfrm>
          <a:prstGeom prst="straightConnector1">
            <a:avLst/>
          </a:prstGeom>
          <a:noFill/>
          <a:ln cap="flat" cmpd="sng" w="15250">
            <a:solidFill>
              <a:srgbClr val="000F0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kong_logo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798003"/>
            <a:ext cx="32186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/>
          <p:nvPr/>
        </p:nvSpPr>
        <p:spPr>
          <a:xfrm>
            <a:off x="950976" y="7798003"/>
            <a:ext cx="190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Funnel Sans"/>
              <a:buNone/>
            </a:pPr>
            <a:r>
              <a:rPr b="1" lang="en-US" sz="11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rPr>
              <a:t>AI CONNECTIVITY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926080" y="7798003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DB5"/>
              </a:buClr>
              <a:buSzPts val="1100"/>
              <a:buFont typeface="Funnel Sans"/>
              <a:buNone/>
            </a:pPr>
            <a:r>
              <a:rPr lang="en-US" sz="11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>©  Kong Inc.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315200" y="7798003"/>
            <a:ext cx="585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Funnel Sans"/>
              <a:buNone/>
            </a:pPr>
            <a:r>
              <a:rPr b="1" lang="en-US" sz="11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rPr>
              <a:t>CONFIDENTIAL  |  NOT TO BE SHARED EXTERNALLY</a:t>
            </a:r>
            <a:r>
              <a:rPr lang="en-US" sz="11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3459968" y="779800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DB5"/>
              </a:buClr>
              <a:buSzPts val="1300"/>
              <a:buFont typeface="Funnel Sans"/>
              <a:buNone/>
            </a:pPr>
            <a:r>
              <a:rPr b="1" lang="en-US" sz="13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8"/>
          <p:cNvGrpSpPr/>
          <p:nvPr/>
        </p:nvGrpSpPr>
        <p:grpSpPr>
          <a:xfrm>
            <a:off x="731520" y="365760"/>
            <a:ext cx="13167300" cy="1122615"/>
            <a:chOff x="731520" y="365760"/>
            <a:chExt cx="13167300" cy="1122615"/>
          </a:xfrm>
        </p:grpSpPr>
        <p:sp>
          <p:nvSpPr>
            <p:cNvPr id="187" name="Google Shape;187;p18"/>
            <p:cNvSpPr/>
            <p:nvPr/>
          </p:nvSpPr>
          <p:spPr>
            <a:xfrm>
              <a:off x="731520" y="365760"/>
              <a:ext cx="13167300" cy="8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Funnel Sans"/>
                <a:buNone/>
              </a:pPr>
              <a:r>
                <a:rPr b="1" lang="en-US" sz="4200">
                  <a:solidFill>
                    <a:srgbClr val="FFFFFF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Strategic Objectives Driving the Program</a:t>
              </a:r>
              <a:endParaRPr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745975" y="1122675"/>
              <a:ext cx="12157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400"/>
                <a:buFont typeface="Funnel Sans"/>
                <a:buNone/>
              </a:pPr>
              <a:r>
                <a:rPr i="1" lang="en-US" sz="1700">
                  <a:solidFill>
                    <a:schemeClr val="lt2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&lt;Customer&gt;'s priority outcomes</a:t>
              </a:r>
              <a:endParaRPr i="1" sz="17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8"/>
          <p:cNvGrpSpPr/>
          <p:nvPr/>
        </p:nvGrpSpPr>
        <p:grpSpPr>
          <a:xfrm>
            <a:off x="585225" y="1605662"/>
            <a:ext cx="4389000" cy="3829885"/>
            <a:chOff x="585225" y="1605662"/>
            <a:chExt cx="4389000" cy="3829885"/>
          </a:xfrm>
        </p:grpSpPr>
        <p:sp>
          <p:nvSpPr>
            <p:cNvPr id="190" name="Google Shape;190;p18"/>
            <p:cNvSpPr/>
            <p:nvPr/>
          </p:nvSpPr>
          <p:spPr>
            <a:xfrm>
              <a:off x="585225" y="1793248"/>
              <a:ext cx="4389000" cy="3642300"/>
            </a:xfrm>
            <a:prstGeom prst="rect">
              <a:avLst/>
            </a:prstGeom>
            <a:solidFill>
              <a:srgbClr val="0A1A0E">
                <a:alpha val="70200"/>
              </a:srgbClr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804672" y="1866392"/>
              <a:ext cx="731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4500"/>
                <a:buFont typeface="Funnel Sans"/>
                <a:buNone/>
              </a:pPr>
              <a:r>
                <a:rPr b="1" lang="en-US" sz="45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1</a:t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804672" y="2686106"/>
              <a:ext cx="3950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Funnel Sans"/>
                <a:buNone/>
              </a:pPr>
              <a:r>
                <a:rPr lang="en-US" sz="2100">
                  <a:solidFill>
                    <a:srgbClr val="FFFFFF"/>
                  </a:solidFill>
                  <a:latin typeface="Funnel Sans ExtraBold"/>
                  <a:ea typeface="Funnel Sans ExtraBold"/>
                  <a:cs typeface="Funnel Sans ExtraBold"/>
                  <a:sym typeface="Funnel Sans ExtraBold"/>
                </a:rPr>
                <a:t>OBJECTIVE ONE</a:t>
              </a:r>
              <a:endParaRPr sz="2100">
                <a:solidFill>
                  <a:schemeClr val="dk1"/>
                </a:solidFill>
                <a:latin typeface="Funnel Sans ExtraBold"/>
                <a:ea typeface="Funnel Sans ExtraBold"/>
                <a:cs typeface="Funnel Sans ExtraBold"/>
                <a:sym typeface="Funnel Sans ExtraBold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804675" y="3802899"/>
              <a:ext cx="41694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400"/>
                <a:buFont typeface="Funnel Sans"/>
                <a:buNone/>
              </a:pPr>
              <a:r>
                <a:t/>
              </a:r>
              <a:endParaRPr sz="18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302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600"/>
                <a:buFont typeface="Funnel Sans"/>
                <a:buChar char="●"/>
              </a:pPr>
              <a:r>
                <a:rPr lang="en-US" sz="16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&lt;First supporting bullet for objective 1&gt;</a:t>
              </a:r>
              <a:endParaRPr sz="16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302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600"/>
                <a:buFont typeface="Funnel Sans"/>
                <a:buChar char="●"/>
              </a:pPr>
              <a:r>
                <a:rPr lang="en-US" sz="16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&lt;Second supporting bullet for objective 1&gt;</a:t>
              </a:r>
              <a:endParaRPr sz="16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400"/>
                <a:buFont typeface="Funnel Sans"/>
                <a:buNone/>
              </a:pPr>
              <a:r>
                <a:t/>
              </a:r>
              <a:endParaRPr sz="18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  <p:pic>
          <p:nvPicPr>
            <p:cNvPr id="194" name="Google Shape;194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97050" y="1605662"/>
              <a:ext cx="1109525" cy="1109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18"/>
          <p:cNvGrpSpPr/>
          <p:nvPr/>
        </p:nvGrpSpPr>
        <p:grpSpPr>
          <a:xfrm>
            <a:off x="5193800" y="1631962"/>
            <a:ext cx="4389000" cy="3803585"/>
            <a:chOff x="5193800" y="1631963"/>
            <a:chExt cx="4389000" cy="3803585"/>
          </a:xfrm>
        </p:grpSpPr>
        <p:sp>
          <p:nvSpPr>
            <p:cNvPr id="196" name="Google Shape;196;p18"/>
            <p:cNvSpPr/>
            <p:nvPr/>
          </p:nvSpPr>
          <p:spPr>
            <a:xfrm>
              <a:off x="5193800" y="1793248"/>
              <a:ext cx="4389000" cy="3642300"/>
            </a:xfrm>
            <a:prstGeom prst="rect">
              <a:avLst/>
            </a:prstGeom>
            <a:solidFill>
              <a:srgbClr val="0A1A0E">
                <a:alpha val="70200"/>
              </a:srgbClr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5413248" y="1866392"/>
              <a:ext cx="731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4500"/>
                <a:buFont typeface="Funnel Sans"/>
                <a:buNone/>
              </a:pPr>
              <a:r>
                <a:rPr b="1" lang="en-US" sz="45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2</a:t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5413248" y="2686106"/>
              <a:ext cx="3950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Funnel Sans"/>
                <a:buNone/>
              </a:pPr>
              <a:r>
                <a:rPr lang="en-US" sz="2100">
                  <a:solidFill>
                    <a:srgbClr val="FFFFFF"/>
                  </a:solidFill>
                  <a:latin typeface="Funnel Sans ExtraBold"/>
                  <a:ea typeface="Funnel Sans ExtraBold"/>
                  <a:cs typeface="Funnel Sans ExtraBold"/>
                  <a:sym typeface="Funnel Sans ExtraBold"/>
                </a:rPr>
                <a:t>OBJECTIVE TWO</a:t>
              </a:r>
              <a:endParaRPr sz="2100">
                <a:solidFill>
                  <a:schemeClr val="dk1"/>
                </a:solidFill>
                <a:latin typeface="Funnel Sans ExtraBold"/>
                <a:ea typeface="Funnel Sans ExtraBold"/>
                <a:cs typeface="Funnel Sans ExtraBold"/>
                <a:sym typeface="Funnel Sans ExtraBold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5413248" y="3674347"/>
              <a:ext cx="39504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400"/>
                <a:buFont typeface="Funnel Sans"/>
                <a:buNone/>
              </a:pPr>
              <a:r>
                <a:t/>
              </a:r>
              <a:endParaRPr sz="16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CCFF00"/>
                </a:buClr>
                <a:buSzPts val="1600"/>
                <a:buFont typeface="Funnel Sans"/>
                <a:buChar char="●"/>
              </a:pPr>
              <a:r>
                <a:rPr lang="en-US" sz="16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&lt;First supporting bullet for objective 2&gt;</a:t>
              </a:r>
              <a:endParaRPr sz="16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600"/>
                <a:buFont typeface="Funnel Sans"/>
                <a:buChar char="●"/>
              </a:pPr>
              <a:r>
                <a:rPr lang="en-US" sz="16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&lt;Second supporting bullet for objective 2&gt;</a:t>
              </a:r>
              <a:endParaRPr sz="16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CCFF00"/>
                </a:buClr>
                <a:buSzPts val="1400"/>
                <a:buFont typeface="Funnel Sans"/>
                <a:buNone/>
              </a:pPr>
              <a:r>
                <a:t/>
              </a:r>
              <a:endParaRPr sz="16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  <p:grpSp>
          <p:nvGrpSpPr>
            <p:cNvPr id="200" name="Google Shape;200;p18"/>
            <p:cNvGrpSpPr/>
            <p:nvPr/>
          </p:nvGrpSpPr>
          <p:grpSpPr>
            <a:xfrm>
              <a:off x="6144650" y="1631963"/>
              <a:ext cx="1673675" cy="1548938"/>
              <a:chOff x="6144650" y="1631963"/>
              <a:chExt cx="1673675" cy="1548938"/>
            </a:xfrm>
          </p:grpSpPr>
          <p:pic>
            <p:nvPicPr>
              <p:cNvPr id="201" name="Google Shape;201;p1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321150" y="1752150"/>
                <a:ext cx="1428750" cy="1428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2" name="Google Shape;202;p18"/>
              <p:cNvPicPr preferRelativeResize="0"/>
              <p:nvPr/>
            </p:nvPicPr>
            <p:blipFill>
              <a:blip r:embed="rId7">
                <a:alphaModFix amt="26000"/>
              </a:blip>
              <a:stretch>
                <a:fillRect/>
              </a:stretch>
            </p:blipFill>
            <p:spPr>
              <a:xfrm>
                <a:off x="6144650" y="1631963"/>
                <a:ext cx="503125" cy="503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" name="Google Shape;203;p18"/>
              <p:cNvPicPr preferRelativeResize="0"/>
              <p:nvPr/>
            </p:nvPicPr>
            <p:blipFill>
              <a:blip r:embed="rId7">
                <a:alphaModFix amt="26000"/>
              </a:blip>
              <a:stretch>
                <a:fillRect/>
              </a:stretch>
            </p:blipFill>
            <p:spPr>
              <a:xfrm>
                <a:off x="6729925" y="1749175"/>
                <a:ext cx="503125" cy="503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4" name="Google Shape;204;p18"/>
              <p:cNvPicPr preferRelativeResize="0"/>
              <p:nvPr/>
            </p:nvPicPr>
            <p:blipFill>
              <a:blip r:embed="rId7">
                <a:alphaModFix amt="26000"/>
              </a:blip>
              <a:stretch>
                <a:fillRect/>
              </a:stretch>
            </p:blipFill>
            <p:spPr>
              <a:xfrm>
                <a:off x="7315200" y="1866388"/>
                <a:ext cx="503125" cy="503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05" name="Google Shape;205;p18"/>
          <p:cNvGrpSpPr/>
          <p:nvPr/>
        </p:nvGrpSpPr>
        <p:grpSpPr>
          <a:xfrm>
            <a:off x="9802376" y="1331757"/>
            <a:ext cx="4389000" cy="4103791"/>
            <a:chOff x="9802376" y="1331757"/>
            <a:chExt cx="4389000" cy="4103791"/>
          </a:xfrm>
        </p:grpSpPr>
        <p:sp>
          <p:nvSpPr>
            <p:cNvPr id="206" name="Google Shape;206;p18"/>
            <p:cNvSpPr/>
            <p:nvPr/>
          </p:nvSpPr>
          <p:spPr>
            <a:xfrm>
              <a:off x="9802376" y="1793248"/>
              <a:ext cx="4389000" cy="3642300"/>
            </a:xfrm>
            <a:prstGeom prst="rect">
              <a:avLst/>
            </a:prstGeom>
            <a:solidFill>
              <a:srgbClr val="0A1A0E">
                <a:alpha val="70200"/>
              </a:srgbClr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10021824" y="1866392"/>
              <a:ext cx="731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4500"/>
                <a:buFont typeface="Funnel Sans"/>
                <a:buNone/>
              </a:pPr>
              <a:r>
                <a:rPr b="1" lang="en-US" sz="45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3</a:t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10021824" y="2686106"/>
              <a:ext cx="3950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Funnel Sans"/>
                <a:buNone/>
              </a:pPr>
              <a:r>
                <a:rPr lang="en-US" sz="2100">
                  <a:solidFill>
                    <a:srgbClr val="FFFFFF"/>
                  </a:solidFill>
                  <a:latin typeface="Funnel Sans ExtraBold"/>
                  <a:ea typeface="Funnel Sans ExtraBold"/>
                  <a:cs typeface="Funnel Sans ExtraBold"/>
                  <a:sym typeface="Funnel Sans ExtraBold"/>
                </a:rPr>
                <a:t>OBJECTIVE THREE</a:t>
              </a:r>
              <a:endParaRPr sz="2100">
                <a:solidFill>
                  <a:schemeClr val="dk1"/>
                </a:solidFill>
                <a:latin typeface="Funnel Sans ExtraBold"/>
                <a:ea typeface="Funnel Sans ExtraBold"/>
                <a:cs typeface="Funnel Sans ExtraBold"/>
                <a:sym typeface="Funnel Sans ExtraBold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10021824" y="3754423"/>
              <a:ext cx="39504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302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600"/>
                <a:buFont typeface="Funnel Sans"/>
                <a:buChar char="●"/>
              </a:pPr>
              <a:r>
                <a:rPr lang="en-US" sz="16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&lt;Single descriptive sentence for objective 3.&gt;</a:t>
              </a:r>
              <a:endParaRPr sz="16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  <p:grpSp>
          <p:nvGrpSpPr>
            <p:cNvPr id="210" name="Google Shape;210;p18"/>
            <p:cNvGrpSpPr/>
            <p:nvPr/>
          </p:nvGrpSpPr>
          <p:grpSpPr>
            <a:xfrm>
              <a:off x="10991500" y="1331757"/>
              <a:ext cx="1428750" cy="1485188"/>
              <a:chOff x="10991500" y="1243562"/>
              <a:chExt cx="1428750" cy="1485188"/>
            </a:xfrm>
          </p:grpSpPr>
          <p:pic>
            <p:nvPicPr>
              <p:cNvPr id="211" name="Google Shape;211;p18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10991500" y="1300000"/>
                <a:ext cx="1428750" cy="14287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" name="Google Shape;212;p18"/>
              <p:cNvPicPr preferRelativeResize="0"/>
              <p:nvPr/>
            </p:nvPicPr>
            <p:blipFill>
              <a:blip r:embed="rId9">
                <a:alphaModFix amt="62000"/>
              </a:blip>
              <a:stretch>
                <a:fillRect/>
              </a:stretch>
            </p:blipFill>
            <p:spPr>
              <a:xfrm>
                <a:off x="11000000" y="1243562"/>
                <a:ext cx="1384000" cy="1383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9"/>
          <p:cNvGrpSpPr/>
          <p:nvPr/>
        </p:nvGrpSpPr>
        <p:grpSpPr>
          <a:xfrm>
            <a:off x="731520" y="219456"/>
            <a:ext cx="10241400" cy="1096968"/>
            <a:chOff x="731520" y="219456"/>
            <a:chExt cx="10241400" cy="1096968"/>
          </a:xfrm>
        </p:grpSpPr>
        <p:sp>
          <p:nvSpPr>
            <p:cNvPr id="219" name="Google Shape;219;p19"/>
            <p:cNvSpPr/>
            <p:nvPr/>
          </p:nvSpPr>
          <p:spPr>
            <a:xfrm>
              <a:off x="731520" y="219456"/>
              <a:ext cx="102414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800"/>
                <a:buFont typeface="Funnel Sans"/>
                <a:buNone/>
              </a:pPr>
              <a:r>
                <a:rPr b="1" lang="en-US" sz="3800">
                  <a:solidFill>
                    <a:srgbClr val="FFFFFF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Workstreams and Milestones</a:t>
              </a:r>
              <a:r>
                <a:rPr b="1" lang="en-US" sz="3800">
                  <a:solidFill>
                    <a:srgbClr val="FFFFFF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731520" y="877824"/>
              <a:ext cx="10241400" cy="4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800"/>
                <a:buFont typeface="Funnel Sans"/>
                <a:buNone/>
              </a:pPr>
              <a:r>
                <a:rPr lang="en-US" sz="18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Where we are and where we are driving next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85216" y="1682496"/>
            <a:ext cx="3219000" cy="5193480"/>
            <a:chOff x="585216" y="1682496"/>
            <a:chExt cx="3219000" cy="5193480"/>
          </a:xfrm>
        </p:grpSpPr>
        <p:sp>
          <p:nvSpPr>
            <p:cNvPr id="222" name="Google Shape;222;p19"/>
            <p:cNvSpPr/>
            <p:nvPr/>
          </p:nvSpPr>
          <p:spPr>
            <a:xfrm>
              <a:off x="1609344" y="1682496"/>
              <a:ext cx="804600" cy="804600"/>
            </a:xfrm>
            <a:prstGeom prst="ellipse">
              <a:avLst/>
            </a:prstGeom>
            <a:solidFill>
              <a:srgbClr val="CCFF00"/>
            </a:solidFill>
            <a:ln cap="flat" cmpd="sng" w="30475">
              <a:solidFill>
                <a:srgbClr val="CC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1609344" y="1682496"/>
              <a:ext cx="8046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Funnel Sans"/>
                <a:buNone/>
              </a:pPr>
              <a:r>
                <a:rPr b="1" lang="en-US" sz="2900">
                  <a:solidFill>
                    <a:srgbClr val="0000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1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585216" y="2779776"/>
              <a:ext cx="3219000" cy="4096200"/>
            </a:xfrm>
            <a:prstGeom prst="rect">
              <a:avLst/>
            </a:prstGeom>
            <a:solidFill>
              <a:srgbClr val="0A1A0E"/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731520" y="2926080"/>
              <a:ext cx="292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800"/>
                <a:buFont typeface="Funnel Sans"/>
                <a:buNone/>
              </a:pPr>
              <a:r>
                <a:rPr b="1" lang="en-US" sz="18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1 name&gt;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731520" y="3438144"/>
              <a:ext cx="2926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None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&lt;Date or horizon&gt;</a:t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731520" y="3877056"/>
              <a:ext cx="1901700" cy="409500"/>
            </a:xfrm>
            <a:prstGeom prst="roundRect">
              <a:avLst>
                <a:gd fmla="val 17857" name="adj"/>
              </a:avLst>
            </a:prstGeom>
            <a:solidFill>
              <a:srgbClr val="0088CC">
                <a:alpha val="30199"/>
              </a:srgbClr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731520" y="3877056"/>
              <a:ext cx="19017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88CC"/>
                </a:buClr>
                <a:buSzPts val="1300"/>
                <a:buFont typeface="Funnel Sans"/>
                <a:buNone/>
              </a:pPr>
              <a:r>
                <a:rPr b="1" lang="en-US" sz="1300">
                  <a:solidFill>
                    <a:srgbClr val="0088CC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In Progress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731520" y="4462272"/>
              <a:ext cx="2926200" cy="25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1 bullet 1&gt;</a:t>
              </a: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14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1 bullet 2&gt;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1 bullet 3&gt;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cxnSp>
        <p:nvCxnSpPr>
          <p:cNvPr id="230" name="Google Shape;230;p19"/>
          <p:cNvCxnSpPr/>
          <p:nvPr/>
        </p:nvCxnSpPr>
        <p:spPr>
          <a:xfrm>
            <a:off x="5925312" y="2077517"/>
            <a:ext cx="2487300" cy="0"/>
          </a:xfrm>
          <a:prstGeom prst="straightConnector1">
            <a:avLst/>
          </a:prstGeom>
          <a:noFill/>
          <a:ln cap="flat" cmpd="sng" w="20325">
            <a:solidFill>
              <a:srgbClr val="000F06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31" name="Google Shape;231;p19"/>
          <p:cNvGrpSpPr/>
          <p:nvPr/>
        </p:nvGrpSpPr>
        <p:grpSpPr>
          <a:xfrm>
            <a:off x="2487168" y="1682496"/>
            <a:ext cx="4755192" cy="5193480"/>
            <a:chOff x="2487168" y="1682496"/>
            <a:chExt cx="4755192" cy="519348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2487168" y="2077517"/>
              <a:ext cx="2487300" cy="0"/>
            </a:xfrm>
            <a:prstGeom prst="straightConnector1">
              <a:avLst/>
            </a:prstGeom>
            <a:noFill/>
            <a:ln cap="flat" cmpd="sng" w="20325">
              <a:solidFill>
                <a:srgbClr val="000F06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19"/>
            <p:cNvSpPr/>
            <p:nvPr/>
          </p:nvSpPr>
          <p:spPr>
            <a:xfrm>
              <a:off x="5047488" y="1682496"/>
              <a:ext cx="804600" cy="804600"/>
            </a:xfrm>
            <a:prstGeom prst="ellipse">
              <a:avLst/>
            </a:prstGeom>
            <a:solidFill>
              <a:srgbClr val="000F06"/>
            </a:solidFill>
            <a:ln cap="flat" cmpd="sng" w="30475">
              <a:solidFill>
                <a:srgbClr val="CC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5047488" y="1682496"/>
              <a:ext cx="8046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2900"/>
                <a:buFont typeface="Funnel Sans"/>
                <a:buNone/>
              </a:pPr>
              <a:r>
                <a:rPr b="1" lang="en-US" sz="29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2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4023360" y="2779776"/>
              <a:ext cx="3219000" cy="4096200"/>
            </a:xfrm>
            <a:prstGeom prst="rect">
              <a:avLst/>
            </a:prstGeom>
            <a:solidFill>
              <a:srgbClr val="0A1A0E"/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4169664" y="2926080"/>
              <a:ext cx="292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800"/>
                <a:buFont typeface="Funnel Sans"/>
                <a:buNone/>
              </a:pPr>
              <a:r>
                <a:rPr b="1" lang="en-US" sz="18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2 name&gt;</a:t>
              </a:r>
              <a:endParaRPr b="1" sz="18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4169664" y="3438144"/>
              <a:ext cx="2926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None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&lt;Date or horizon&gt;</a:t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4169664" y="3877056"/>
              <a:ext cx="1901700" cy="409500"/>
            </a:xfrm>
            <a:prstGeom prst="roundRect">
              <a:avLst>
                <a:gd fmla="val 17857" name="adj"/>
              </a:avLst>
            </a:prstGeom>
            <a:solidFill>
              <a:srgbClr val="00CC66">
                <a:alpha val="30199"/>
              </a:srgbClr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4169664" y="3877056"/>
              <a:ext cx="19017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CC66"/>
                </a:buClr>
                <a:buSzPts val="1300"/>
                <a:buFont typeface="Funnel Sans"/>
                <a:buNone/>
              </a:pPr>
              <a:r>
                <a:rPr b="1" lang="en-US" sz="1300">
                  <a:solidFill>
                    <a:srgbClr val="00CC66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In Progress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169664" y="4462272"/>
              <a:ext cx="2926200" cy="25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2 bullet 1&gt;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2 bullet 2&gt;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2 bullet 3&gt;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grpSp>
        <p:nvGrpSpPr>
          <p:cNvPr id="241" name="Google Shape;241;p19"/>
          <p:cNvGrpSpPr/>
          <p:nvPr/>
        </p:nvGrpSpPr>
        <p:grpSpPr>
          <a:xfrm>
            <a:off x="7461504" y="1682496"/>
            <a:ext cx="4389252" cy="5193480"/>
            <a:chOff x="7461504" y="1682496"/>
            <a:chExt cx="4389252" cy="5193480"/>
          </a:xfrm>
        </p:grpSpPr>
        <p:sp>
          <p:nvSpPr>
            <p:cNvPr id="242" name="Google Shape;242;p19"/>
            <p:cNvSpPr/>
            <p:nvPr/>
          </p:nvSpPr>
          <p:spPr>
            <a:xfrm>
              <a:off x="8485632" y="1682496"/>
              <a:ext cx="804600" cy="804600"/>
            </a:xfrm>
            <a:prstGeom prst="ellipse">
              <a:avLst/>
            </a:prstGeom>
            <a:solidFill>
              <a:srgbClr val="000F06"/>
            </a:solidFill>
            <a:ln cap="flat" cmpd="sng" w="30475">
              <a:solidFill>
                <a:srgbClr val="CC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8485632" y="1682496"/>
              <a:ext cx="8046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2900"/>
                <a:buFont typeface="Funnel Sans"/>
                <a:buNone/>
              </a:pPr>
              <a:r>
                <a:rPr b="1" lang="en-US" sz="29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3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4" name="Google Shape;244;p19"/>
            <p:cNvCxnSpPr/>
            <p:nvPr/>
          </p:nvCxnSpPr>
          <p:spPr>
            <a:xfrm>
              <a:off x="9363456" y="2077517"/>
              <a:ext cx="2487300" cy="0"/>
            </a:xfrm>
            <a:prstGeom prst="straightConnector1">
              <a:avLst/>
            </a:prstGeom>
            <a:noFill/>
            <a:ln cap="flat" cmpd="sng" w="20325">
              <a:solidFill>
                <a:srgbClr val="000F06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245" name="Google Shape;245;p19"/>
            <p:cNvSpPr/>
            <p:nvPr/>
          </p:nvSpPr>
          <p:spPr>
            <a:xfrm>
              <a:off x="7461504" y="2779776"/>
              <a:ext cx="3219000" cy="4096200"/>
            </a:xfrm>
            <a:prstGeom prst="rect">
              <a:avLst/>
            </a:prstGeom>
            <a:solidFill>
              <a:srgbClr val="0A1A0E"/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7607808" y="2926080"/>
              <a:ext cx="292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800"/>
                <a:buFont typeface="Funnel Sans"/>
                <a:buNone/>
              </a:pPr>
              <a:r>
                <a:rPr b="1" lang="en-US" sz="18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3 name&gt;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7607808" y="3438144"/>
              <a:ext cx="2926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None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&lt;Date or horizon&gt;</a:t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7607808" y="3877056"/>
              <a:ext cx="1901700" cy="409500"/>
            </a:xfrm>
            <a:prstGeom prst="roundRect">
              <a:avLst>
                <a:gd fmla="val 17857" name="adj"/>
              </a:avLst>
            </a:prstGeom>
            <a:solidFill>
              <a:srgbClr val="00CC66">
                <a:alpha val="30199"/>
              </a:srgbClr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7607808" y="3877056"/>
              <a:ext cx="19017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CC66"/>
                </a:buClr>
                <a:buSzPts val="1300"/>
                <a:buFont typeface="Funnel Sans"/>
                <a:buNone/>
              </a:pPr>
              <a:r>
                <a:rPr b="1" lang="en-US" sz="1300">
                  <a:solidFill>
                    <a:srgbClr val="00CC66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In Progress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7607808" y="4462272"/>
              <a:ext cx="2926200" cy="25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3 bullet 1&gt;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3 bullet 2&gt;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3 bullet 3&gt;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grpSp>
        <p:nvGrpSpPr>
          <p:cNvPr id="251" name="Google Shape;251;p19"/>
          <p:cNvGrpSpPr/>
          <p:nvPr/>
        </p:nvGrpSpPr>
        <p:grpSpPr>
          <a:xfrm>
            <a:off x="10899648" y="1682496"/>
            <a:ext cx="3219000" cy="5193480"/>
            <a:chOff x="10899648" y="1682496"/>
            <a:chExt cx="3219000" cy="5193480"/>
          </a:xfrm>
        </p:grpSpPr>
        <p:sp>
          <p:nvSpPr>
            <p:cNvPr id="252" name="Google Shape;252;p19"/>
            <p:cNvSpPr/>
            <p:nvPr/>
          </p:nvSpPr>
          <p:spPr>
            <a:xfrm>
              <a:off x="11923776" y="1682496"/>
              <a:ext cx="804600" cy="804600"/>
            </a:xfrm>
            <a:prstGeom prst="ellipse">
              <a:avLst/>
            </a:prstGeom>
            <a:solidFill>
              <a:srgbClr val="000F06"/>
            </a:solidFill>
            <a:ln cap="flat" cmpd="sng" w="30475">
              <a:solidFill>
                <a:srgbClr val="CC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1923776" y="1682496"/>
              <a:ext cx="8046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2900"/>
                <a:buFont typeface="Funnel Sans"/>
                <a:buNone/>
              </a:pPr>
              <a:r>
                <a:rPr b="1" lang="en-US" sz="29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4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10899648" y="2779776"/>
              <a:ext cx="3219000" cy="4096200"/>
            </a:xfrm>
            <a:prstGeom prst="rect">
              <a:avLst/>
            </a:prstGeom>
            <a:solidFill>
              <a:srgbClr val="0A1A0E"/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11045952" y="2926080"/>
              <a:ext cx="292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800"/>
                <a:buFont typeface="Funnel Sans"/>
                <a:buNone/>
              </a:pPr>
              <a:r>
                <a:rPr b="1" lang="en-US" sz="18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4 name&gt;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11045952" y="3438144"/>
              <a:ext cx="2926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None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&lt;Date or horizon&gt;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11045952" y="3877056"/>
              <a:ext cx="1901700" cy="409500"/>
            </a:xfrm>
            <a:prstGeom prst="roundRect">
              <a:avLst>
                <a:gd fmla="val 17857" name="adj"/>
              </a:avLst>
            </a:prstGeom>
            <a:solidFill>
              <a:srgbClr val="00CC66">
                <a:alpha val="30199"/>
              </a:srgbClr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11045952" y="3877056"/>
              <a:ext cx="19017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CC66"/>
                </a:buClr>
                <a:buSzPts val="1300"/>
                <a:buFont typeface="Funnel Sans"/>
                <a:buNone/>
              </a:pPr>
              <a:r>
                <a:rPr b="1" lang="en-US" sz="1300">
                  <a:solidFill>
                    <a:srgbClr val="00CC66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In Progress</a:t>
              </a:r>
              <a:endParaRPr b="1" sz="1300">
                <a:solidFill>
                  <a:srgbClr val="00CC66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11045952" y="4462272"/>
              <a:ext cx="2926200" cy="25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4 bullet 1&gt;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4 bullet 2&gt;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&lt;Workstream 4 bullet 3&gt;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585216" y="7095744"/>
            <a:ext cx="13460100" cy="658560"/>
            <a:chOff x="585216" y="7095744"/>
            <a:chExt cx="13460100" cy="658560"/>
          </a:xfrm>
        </p:grpSpPr>
        <p:sp>
          <p:nvSpPr>
            <p:cNvPr id="261" name="Google Shape;261;p19"/>
            <p:cNvSpPr/>
            <p:nvPr/>
          </p:nvSpPr>
          <p:spPr>
            <a:xfrm>
              <a:off x="585216" y="7095744"/>
              <a:ext cx="13460100" cy="365700"/>
            </a:xfrm>
            <a:prstGeom prst="rect">
              <a:avLst/>
            </a:prstGeom>
            <a:solidFill>
              <a:srgbClr val="0A1A0E"/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731520" y="7095744"/>
              <a:ext cx="131673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200"/>
                <a:buFont typeface="Funnel Sans"/>
                <a:buNone/>
              </a:pPr>
              <a:r>
                <a:rPr lang="en-US" sz="12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KEY SUCCESS INDICATORS   |   &lt;metric 1&gt;   |   &lt;metric 2&gt;   |   &lt;metric 3&gt;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731520" y="7461504"/>
              <a:ext cx="7315200" cy="2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7A8A7A"/>
                </a:buClr>
                <a:buSzPts val="1100"/>
                <a:buFont typeface="Funnel Sans"/>
                <a:buNone/>
              </a:pPr>
              <a:r>
                <a:rPr lang="en-US" sz="1100">
                  <a:solidFill>
                    <a:srgbClr val="7A8A7A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STATUS:  🔵 Complete  |  🟢 On Track  |  🟠 At Risk  |  🔴 Delayed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9"/>
          <p:cNvSpPr/>
          <p:nvPr/>
        </p:nvSpPr>
        <p:spPr>
          <a:xfrm>
            <a:off x="0" y="7754112"/>
            <a:ext cx="14630400" cy="475800"/>
          </a:xfrm>
          <a:prstGeom prst="rect">
            <a:avLst/>
          </a:prstGeom>
          <a:solidFill>
            <a:srgbClr val="000F06"/>
          </a:solidFill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9"/>
          <p:cNvCxnSpPr/>
          <p:nvPr/>
        </p:nvCxnSpPr>
        <p:spPr>
          <a:xfrm>
            <a:off x="0" y="7754112"/>
            <a:ext cx="14630400" cy="0"/>
          </a:xfrm>
          <a:prstGeom prst="straightConnector1">
            <a:avLst/>
          </a:prstGeom>
          <a:noFill/>
          <a:ln cap="flat" cmpd="sng" w="15250">
            <a:solidFill>
              <a:srgbClr val="000F0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kong_logo.png" id="266" name="Google Shape;2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798003"/>
            <a:ext cx="32186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/>
          <p:nvPr/>
        </p:nvSpPr>
        <p:spPr>
          <a:xfrm>
            <a:off x="950976" y="7798003"/>
            <a:ext cx="190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Funnel Sans"/>
              <a:buNone/>
            </a:pPr>
            <a:r>
              <a:rPr b="1" lang="en-US" sz="11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rPr>
              <a:t>AI CONNECTIVITY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926080" y="7798003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DB5"/>
              </a:buClr>
              <a:buSzPts val="1100"/>
              <a:buFont typeface="Funnel Sans"/>
              <a:buNone/>
            </a:pPr>
            <a:r>
              <a:rPr lang="en-US" sz="11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>©  Kong Inc.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7315200" y="7798003"/>
            <a:ext cx="585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Funnel Sans"/>
              <a:buNone/>
            </a:pPr>
            <a:r>
              <a:rPr b="1" lang="en-US" sz="11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rPr>
              <a:t>CONFIDENTIAL  |  NOT TO BE SHARED EXTERNALLY</a:t>
            </a:r>
            <a:r>
              <a:rPr lang="en-US" sz="11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3459968" y="779800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DB5"/>
              </a:buClr>
              <a:buSzPts val="1300"/>
              <a:buFont typeface="Funnel Sans"/>
              <a:buNone/>
            </a:pPr>
            <a:r>
              <a:rPr b="1" lang="en-US" sz="13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9"/>
          <p:cNvGrpSpPr/>
          <p:nvPr/>
        </p:nvGrpSpPr>
        <p:grpSpPr>
          <a:xfrm>
            <a:off x="731520" y="219456"/>
            <a:ext cx="10241400" cy="1096968"/>
            <a:chOff x="731520" y="219456"/>
            <a:chExt cx="10241400" cy="1096968"/>
          </a:xfrm>
        </p:grpSpPr>
        <p:sp>
          <p:nvSpPr>
            <p:cNvPr id="219" name="Google Shape;219;p19"/>
            <p:cNvSpPr/>
            <p:nvPr/>
          </p:nvSpPr>
          <p:spPr>
            <a:xfrm>
              <a:off x="731520" y="219456"/>
              <a:ext cx="102414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800"/>
                <a:buFont typeface="Funnel Sans"/>
                <a:buNone/>
              </a:pPr>
              <a:r>
                <a:rPr b="1" lang="en-US" sz="3800">
                  <a:solidFill>
                    <a:srgbClr val="FFFFFF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Initiative Deep Dive</a:t>
              </a:r>
              <a:r>
                <a:rPr b="1" lang="en-US" sz="3800">
                  <a:solidFill>
                    <a:srgbClr val="FFFFFF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731520" y="877824"/>
              <a:ext cx="10241400" cy="4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800"/>
                <a:buFont typeface="Funnel Sans"/>
                <a:buNone/>
              </a:pPr>
              <a:r>
                <a:rPr lang="en-US" sz="18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Bottlenecks we know about and the plays we are running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85216" y="1682496"/>
            <a:ext cx="3219000" cy="5193480"/>
            <a:chOff x="585216" y="1682496"/>
            <a:chExt cx="3219000" cy="5193480"/>
          </a:xfrm>
        </p:grpSpPr>
        <p:sp>
          <p:nvSpPr>
            <p:cNvPr id="222" name="Google Shape;222;p19"/>
            <p:cNvSpPr/>
            <p:nvPr/>
          </p:nvSpPr>
          <p:spPr>
            <a:xfrm>
              <a:off x="1609344" y="1682496"/>
              <a:ext cx="804600" cy="804600"/>
            </a:xfrm>
            <a:prstGeom prst="ellipse">
              <a:avLst/>
            </a:prstGeom>
            <a:solidFill>
              <a:srgbClr val="CCFF00"/>
            </a:solidFill>
            <a:ln cap="flat" cmpd="sng" w="30475">
              <a:solidFill>
                <a:srgbClr val="CC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1609344" y="1682496"/>
              <a:ext cx="8046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Funnel Sans"/>
                <a:buNone/>
              </a:pPr>
              <a:r>
                <a:rPr b="1" lang="en-US" sz="2900">
                  <a:solidFill>
                    <a:srgbClr val="0000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1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585216" y="2779776"/>
              <a:ext cx="3219000" cy="4096200"/>
            </a:xfrm>
            <a:prstGeom prst="rect">
              <a:avLst/>
            </a:prstGeom>
            <a:solidFill>
              <a:srgbClr val="0A1A0E"/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731520" y="2926080"/>
              <a:ext cx="292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800"/>
                <a:buFont typeface="Funnel Sans"/>
                <a:buNone/>
              </a:pPr>
              <a:r>
                <a:rPr b="1" lang="en-US" sz="18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&lt;Initiative 1&gt;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731520" y="3438144"/>
              <a:ext cx="2926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None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Owner: &lt;Name&gt;</a:t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731520" y="3877056"/>
              <a:ext cx="1901700" cy="409500"/>
            </a:xfrm>
            <a:prstGeom prst="roundRect">
              <a:avLst>
                <a:gd fmla="val 17857" name="adj"/>
              </a:avLst>
            </a:prstGeom>
            <a:solidFill>
              <a:srgbClr val="0088CC">
                <a:alpha val="30199"/>
              </a:srgbClr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731520" y="3877056"/>
              <a:ext cx="19017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88CC"/>
                </a:buClr>
                <a:buSzPts val="1300"/>
                <a:buFont typeface="Funnel Sans"/>
                <a:buNone/>
              </a:pPr>
              <a:r>
                <a:rPr b="1" lang="en-US" sz="1300">
                  <a:solidFill>
                    <a:srgbClr val="0088CC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Active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731520" y="4462272"/>
              <a:ext cx="2926200" cy="25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&lt;Bottleneck for initiative 1&gt;</a:t>
              </a: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14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&lt;Play for initiative 1&gt;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&lt;Supporting action&gt;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cxnSp>
        <p:nvCxnSpPr>
          <p:cNvPr id="230" name="Google Shape;230;p19"/>
          <p:cNvCxnSpPr/>
          <p:nvPr/>
        </p:nvCxnSpPr>
        <p:spPr>
          <a:xfrm>
            <a:off x="5925312" y="2077517"/>
            <a:ext cx="2487300" cy="0"/>
          </a:xfrm>
          <a:prstGeom prst="straightConnector1">
            <a:avLst/>
          </a:prstGeom>
          <a:noFill/>
          <a:ln cap="flat" cmpd="sng" w="20325">
            <a:solidFill>
              <a:srgbClr val="000F06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31" name="Google Shape;231;p19"/>
          <p:cNvGrpSpPr/>
          <p:nvPr/>
        </p:nvGrpSpPr>
        <p:grpSpPr>
          <a:xfrm>
            <a:off x="2487168" y="1682496"/>
            <a:ext cx="4755192" cy="5193480"/>
            <a:chOff x="2487168" y="1682496"/>
            <a:chExt cx="4755192" cy="519348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2487168" y="2077517"/>
              <a:ext cx="2487300" cy="0"/>
            </a:xfrm>
            <a:prstGeom prst="straightConnector1">
              <a:avLst/>
            </a:prstGeom>
            <a:noFill/>
            <a:ln cap="flat" cmpd="sng" w="20325">
              <a:solidFill>
                <a:srgbClr val="000F06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19"/>
            <p:cNvSpPr/>
            <p:nvPr/>
          </p:nvSpPr>
          <p:spPr>
            <a:xfrm>
              <a:off x="5047488" y="1682496"/>
              <a:ext cx="804600" cy="804600"/>
            </a:xfrm>
            <a:prstGeom prst="ellipse">
              <a:avLst/>
            </a:prstGeom>
            <a:solidFill>
              <a:srgbClr val="000F06"/>
            </a:solidFill>
            <a:ln cap="flat" cmpd="sng" w="30475">
              <a:solidFill>
                <a:srgbClr val="CC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5047488" y="1682496"/>
              <a:ext cx="8046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2900"/>
                <a:buFont typeface="Funnel Sans"/>
                <a:buNone/>
              </a:pPr>
              <a:r>
                <a:rPr b="1" lang="en-US" sz="29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2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4023360" y="2779776"/>
              <a:ext cx="3219000" cy="4096200"/>
            </a:xfrm>
            <a:prstGeom prst="rect">
              <a:avLst/>
            </a:prstGeom>
            <a:solidFill>
              <a:srgbClr val="0A1A0E"/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4169664" y="2926080"/>
              <a:ext cx="292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800"/>
                <a:buFont typeface="Funnel Sans"/>
                <a:buNone/>
              </a:pPr>
              <a:r>
                <a:rPr b="1" lang="en-US" sz="18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&lt;Initiative 2&gt;</a:t>
              </a:r>
              <a:endParaRPr b="1" sz="18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4169664" y="3438144"/>
              <a:ext cx="2926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None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Owner: &lt;Name&gt;</a:t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4169664" y="3877056"/>
              <a:ext cx="1901700" cy="409500"/>
            </a:xfrm>
            <a:prstGeom prst="roundRect">
              <a:avLst>
                <a:gd fmla="val 17857" name="adj"/>
              </a:avLst>
            </a:prstGeom>
            <a:solidFill>
              <a:srgbClr val="00CC66">
                <a:alpha val="30199"/>
              </a:srgbClr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4169664" y="3877056"/>
              <a:ext cx="19017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CC66"/>
                </a:buClr>
                <a:buSzPts val="1300"/>
                <a:buFont typeface="Funnel Sans"/>
                <a:buNone/>
              </a:pPr>
              <a:r>
                <a:rPr b="1" lang="en-US" sz="1300">
                  <a:solidFill>
                    <a:srgbClr val="00CC66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Active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169664" y="4462272"/>
              <a:ext cx="2926200" cy="25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&lt;Bottleneck for initiative 2&gt;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&lt;Play for initiative 2&gt;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&lt;Supporting action&gt;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grpSp>
        <p:nvGrpSpPr>
          <p:cNvPr id="241" name="Google Shape;241;p19"/>
          <p:cNvGrpSpPr/>
          <p:nvPr/>
        </p:nvGrpSpPr>
        <p:grpSpPr>
          <a:xfrm>
            <a:off x="7461504" y="1682496"/>
            <a:ext cx="4389252" cy="5193480"/>
            <a:chOff x="7461504" y="1682496"/>
            <a:chExt cx="4389252" cy="5193480"/>
          </a:xfrm>
        </p:grpSpPr>
        <p:sp>
          <p:nvSpPr>
            <p:cNvPr id="242" name="Google Shape;242;p19"/>
            <p:cNvSpPr/>
            <p:nvPr/>
          </p:nvSpPr>
          <p:spPr>
            <a:xfrm>
              <a:off x="8485632" y="1682496"/>
              <a:ext cx="804600" cy="804600"/>
            </a:xfrm>
            <a:prstGeom prst="ellipse">
              <a:avLst/>
            </a:prstGeom>
            <a:solidFill>
              <a:srgbClr val="000F06"/>
            </a:solidFill>
            <a:ln cap="flat" cmpd="sng" w="30475">
              <a:solidFill>
                <a:srgbClr val="CC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8485632" y="1682496"/>
              <a:ext cx="8046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2900"/>
                <a:buFont typeface="Funnel Sans"/>
                <a:buNone/>
              </a:pPr>
              <a:r>
                <a:rPr b="1" lang="en-US" sz="29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3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4" name="Google Shape;244;p19"/>
            <p:cNvCxnSpPr/>
            <p:nvPr/>
          </p:nvCxnSpPr>
          <p:spPr>
            <a:xfrm>
              <a:off x="9363456" y="2077517"/>
              <a:ext cx="2487300" cy="0"/>
            </a:xfrm>
            <a:prstGeom prst="straightConnector1">
              <a:avLst/>
            </a:prstGeom>
            <a:noFill/>
            <a:ln cap="flat" cmpd="sng" w="20325">
              <a:solidFill>
                <a:srgbClr val="000F06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245" name="Google Shape;245;p19"/>
            <p:cNvSpPr/>
            <p:nvPr/>
          </p:nvSpPr>
          <p:spPr>
            <a:xfrm>
              <a:off x="7461504" y="2779776"/>
              <a:ext cx="3219000" cy="4096200"/>
            </a:xfrm>
            <a:prstGeom prst="rect">
              <a:avLst/>
            </a:prstGeom>
            <a:solidFill>
              <a:srgbClr val="0A1A0E"/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7607808" y="2926080"/>
              <a:ext cx="292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800"/>
                <a:buFont typeface="Funnel Sans"/>
                <a:buNone/>
              </a:pPr>
              <a:r>
                <a:rPr b="1" lang="en-US" sz="18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&lt;Initiative 3&gt;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7607808" y="3438144"/>
              <a:ext cx="2926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None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Owner: &lt;Name&gt;</a:t>
              </a:r>
              <a:r>
                <a:rPr lang="en-US" sz="14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7607808" y="3877056"/>
              <a:ext cx="1901700" cy="409500"/>
            </a:xfrm>
            <a:prstGeom prst="roundRect">
              <a:avLst>
                <a:gd fmla="val 17857" name="adj"/>
              </a:avLst>
            </a:prstGeom>
            <a:solidFill>
              <a:srgbClr val="00CC66">
                <a:alpha val="30199"/>
              </a:srgbClr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7607808" y="3877056"/>
              <a:ext cx="19017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CC66"/>
                </a:buClr>
                <a:buSzPts val="1300"/>
                <a:buFont typeface="Funnel Sans"/>
                <a:buNone/>
              </a:pPr>
              <a:r>
                <a:rPr b="1" lang="en-US" sz="1300">
                  <a:solidFill>
                    <a:srgbClr val="00CC66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Active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7607808" y="4462272"/>
              <a:ext cx="2926200" cy="25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&lt;Bottleneck for initiative 3&gt;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&lt;Play for initiative 3&gt;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&lt;Supporting action&gt;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grpSp>
        <p:nvGrpSpPr>
          <p:cNvPr id="251" name="Google Shape;251;p19"/>
          <p:cNvGrpSpPr/>
          <p:nvPr/>
        </p:nvGrpSpPr>
        <p:grpSpPr>
          <a:xfrm>
            <a:off x="10899648" y="1682496"/>
            <a:ext cx="3219000" cy="5193480"/>
            <a:chOff x="10899648" y="1682496"/>
            <a:chExt cx="3219000" cy="5193480"/>
          </a:xfrm>
        </p:grpSpPr>
        <p:sp>
          <p:nvSpPr>
            <p:cNvPr id="252" name="Google Shape;252;p19"/>
            <p:cNvSpPr/>
            <p:nvPr/>
          </p:nvSpPr>
          <p:spPr>
            <a:xfrm>
              <a:off x="11923776" y="1682496"/>
              <a:ext cx="804600" cy="804600"/>
            </a:xfrm>
            <a:prstGeom prst="ellipse">
              <a:avLst/>
            </a:prstGeom>
            <a:solidFill>
              <a:srgbClr val="000F06"/>
            </a:solidFill>
            <a:ln cap="flat" cmpd="sng" w="30475">
              <a:solidFill>
                <a:srgbClr val="CC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1923776" y="1682496"/>
              <a:ext cx="804600" cy="80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2900"/>
                <a:buFont typeface="Funnel Sans"/>
                <a:buNone/>
              </a:pPr>
              <a:r>
                <a:rPr b="1" lang="en-US" sz="29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4</a:t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10899648" y="2779776"/>
              <a:ext cx="3219000" cy="4096200"/>
            </a:xfrm>
            <a:prstGeom prst="rect">
              <a:avLst/>
            </a:prstGeom>
            <a:solidFill>
              <a:srgbClr val="0A1A0E"/>
            </a:solidFill>
            <a:ln cap="flat" cmpd="sng" w="15250">
              <a:solidFill>
                <a:srgbClr val="000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11045952" y="2926080"/>
              <a:ext cx="2926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FF00"/>
                </a:buClr>
                <a:buSzPts val="1800"/>
                <a:buFont typeface="Funnel Sans"/>
                <a:buNone/>
              </a:pPr>
              <a:r>
                <a:rPr b="1" lang="en-US" sz="1800">
                  <a:solidFill>
                    <a:srgbClr val="CCFF00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&lt;Initiative 4&gt;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11045952" y="3438144"/>
              <a:ext cx="2926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None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Owner: &lt;Name&gt;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11045952" y="3877056"/>
              <a:ext cx="1901700" cy="409500"/>
            </a:xfrm>
            <a:prstGeom prst="roundRect">
              <a:avLst>
                <a:gd fmla="val 17857" name="adj"/>
              </a:avLst>
            </a:prstGeom>
            <a:solidFill>
              <a:srgbClr val="00CC66">
                <a:alpha val="30199"/>
              </a:srgbClr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11045952" y="3877056"/>
              <a:ext cx="19017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CC66"/>
                </a:buClr>
                <a:buSzPts val="1300"/>
                <a:buFont typeface="Funnel Sans"/>
                <a:buNone/>
              </a:pPr>
              <a:r>
                <a:rPr b="1" lang="en-US" sz="1300">
                  <a:solidFill>
                    <a:srgbClr val="00CC66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Active</a:t>
              </a:r>
              <a:endParaRPr b="1" sz="1300">
                <a:solidFill>
                  <a:srgbClr val="00CC66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11045952" y="4462272"/>
              <a:ext cx="2926200" cy="25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&lt;Bottleneck for initiative 4&gt;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&lt;Play for initiative 4&gt;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  <a:p>
              <a:pPr indent="-317500" lvl="0" marL="4572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400"/>
                <a:buFont typeface="Funnel Sans"/>
                <a:buChar char="●"/>
              </a:pPr>
              <a:r>
                <a:rPr lang="en-US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&lt;Supporting action&gt;</a:t>
              </a:r>
              <a:endParaRPr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585216" y="7095744"/>
            <a:ext cx="13460100" cy="658560"/>
            <a:chOff x="585216" y="7095744"/>
            <a:chExt cx="13460100" cy="658560"/>
          </a:xfrm>
        </p:grpSpPr>
        <p:sp>
          <p:nvSpPr>
            <p:cNvPr id="261" name="Google Shape;261;p19"/>
            <p:cNvSpPr/>
            <p:nvPr/>
          </p:nvSpPr>
          <p:spPr>
            <a:xfrm>
              <a:off x="585216" y="7095744"/>
              <a:ext cx="13460100" cy="365700"/>
            </a:xfrm>
            <a:prstGeom prst="rect">
              <a:avLst/>
            </a:prstGeom>
            <a:solidFill>
              <a:srgbClr val="0A1A0E"/>
            </a:solidFill>
            <a:ln>
              <a:noFill/>
            </a:ln>
          </p:spPr>
          <p:txBody>
            <a:bodyPr anchorCtr="0" anchor="t" bIns="73125" lIns="146275" spcFirstLastPara="1" rIns="146275" wrap="square" tIns="73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731520" y="7095744"/>
              <a:ext cx="131673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7BDB5"/>
                </a:buClr>
                <a:buSzPts val="1200"/>
                <a:buFont typeface="Funnel Sans"/>
                <a:buNone/>
              </a:pPr>
              <a:r>
                <a:rPr lang="en-US" sz="1200">
                  <a:solidFill>
                    <a:srgbClr val="B7BDB5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OWNERS   |   &lt;CSM&gt;   |   &lt;AE&gt;   |   &lt;SE&gt;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731520" y="7461504"/>
              <a:ext cx="7315200" cy="2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7A8A7A"/>
                </a:buClr>
                <a:buSzPts val="1100"/>
                <a:buFont typeface="Funnel Sans"/>
                <a:buNone/>
              </a:pPr>
              <a:r>
                <a:rPr lang="en-US" sz="1100">
                  <a:solidFill>
                    <a:srgbClr val="7A8A7A"/>
                  </a:solidFill>
                  <a:latin typeface="Funnel Sans"/>
                  <a:ea typeface="Funnel Sans"/>
                  <a:cs typeface="Funnel Sans"/>
                  <a:sym typeface="Funnel Sans"/>
                </a:rPr>
                <a:t>STATUS:  🔵 Complete  |  🟢 On Track  |  🟠 At Risk  |  🔴 Delayed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9"/>
          <p:cNvSpPr/>
          <p:nvPr/>
        </p:nvSpPr>
        <p:spPr>
          <a:xfrm>
            <a:off x="0" y="7754112"/>
            <a:ext cx="14630400" cy="475800"/>
          </a:xfrm>
          <a:prstGeom prst="rect">
            <a:avLst/>
          </a:prstGeom>
          <a:solidFill>
            <a:srgbClr val="000F06"/>
          </a:solidFill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9"/>
          <p:cNvCxnSpPr/>
          <p:nvPr/>
        </p:nvCxnSpPr>
        <p:spPr>
          <a:xfrm>
            <a:off x="0" y="7754112"/>
            <a:ext cx="14630400" cy="0"/>
          </a:xfrm>
          <a:prstGeom prst="straightConnector1">
            <a:avLst/>
          </a:prstGeom>
          <a:noFill/>
          <a:ln cap="flat" cmpd="sng" w="15250">
            <a:solidFill>
              <a:srgbClr val="000F0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kong_logo.png" id="266" name="Google Shape;2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7798003"/>
            <a:ext cx="32186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/>
          <p:nvPr/>
        </p:nvSpPr>
        <p:spPr>
          <a:xfrm>
            <a:off x="950976" y="7798003"/>
            <a:ext cx="190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Funnel Sans"/>
              <a:buNone/>
            </a:pPr>
            <a:r>
              <a:rPr b="1" lang="en-US" sz="11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rPr>
              <a:t>AI CONNECTIVITY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2926080" y="7798003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DB5"/>
              </a:buClr>
              <a:buSzPts val="1100"/>
              <a:buFont typeface="Funnel Sans"/>
              <a:buNone/>
            </a:pPr>
            <a:r>
              <a:rPr lang="en-US" sz="11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>©  Kong Inc.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7315200" y="7798003"/>
            <a:ext cx="585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00"/>
              </a:buClr>
              <a:buSzPts val="1100"/>
              <a:buFont typeface="Funnel Sans"/>
              <a:buNone/>
            </a:pPr>
            <a:r>
              <a:rPr b="1" lang="en-US" sz="1100">
                <a:solidFill>
                  <a:srgbClr val="CCFF00"/>
                </a:solidFill>
                <a:latin typeface="Funnel Sans"/>
                <a:ea typeface="Funnel Sans"/>
                <a:cs typeface="Funnel Sans"/>
                <a:sym typeface="Funnel Sans"/>
              </a:rPr>
              <a:t>CONFIDENTIAL  |  NOT TO BE SHARED EXTERNALLY</a:t>
            </a:r>
            <a:r>
              <a:rPr lang="en-US" sz="11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3459968" y="779800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BDB5"/>
              </a:buClr>
              <a:buSzPts val="1300"/>
              <a:buFont typeface="Funnel Sans"/>
              <a:buNone/>
            </a:pPr>
            <a:r>
              <a:rPr b="1" lang="en-US" sz="1300">
                <a:solidFill>
                  <a:srgbClr val="B7BDB5"/>
                </a:solidFill>
                <a:latin typeface="Funnel Sans"/>
                <a:ea typeface="Funnel Sans"/>
                <a:cs typeface="Funnel Sans"/>
                <a:sym typeface="Funnel Sans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